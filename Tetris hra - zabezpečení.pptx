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81" r:id="rId3"/>
    <p:sldId id="282" r:id="rId4"/>
    <p:sldId id="280" r:id="rId5"/>
    <p:sldId id="258" r:id="rId6"/>
    <p:sldId id="257" r:id="rId7"/>
    <p:sldId id="259" r:id="rId8"/>
    <p:sldId id="260" r:id="rId9"/>
    <p:sldId id="261" r:id="rId10"/>
    <p:sldId id="262" r:id="rId11"/>
    <p:sldId id="263" r:id="rId12"/>
    <p:sldId id="283" r:id="rId13"/>
    <p:sldId id="264" r:id="rId14"/>
    <p:sldId id="265" r:id="rId15"/>
    <p:sldId id="266" r:id="rId16"/>
    <p:sldId id="275" r:id="rId17"/>
    <p:sldId id="267" r:id="rId18"/>
    <p:sldId id="268" r:id="rId19"/>
    <p:sldId id="269" r:id="rId20"/>
    <p:sldId id="270" r:id="rId21"/>
    <p:sldId id="271" r:id="rId22"/>
    <p:sldId id="272" r:id="rId23"/>
    <p:sldId id="284" r:id="rId24"/>
    <p:sldId id="274" r:id="rId25"/>
    <p:sldId id="273" r:id="rId26"/>
    <p:sldId id="276" r:id="rId27"/>
    <p:sldId id="277" r:id="rId28"/>
    <p:sldId id="278" r:id="rId29"/>
    <p:sldId id="279" r:id="rId3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74131E-03AB-4332-956F-EB4EB43F9FBD}" v="70" dt="2026-01-19T11:21:21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3" autoAdjust="0"/>
    <p:restoredTop sz="94660"/>
  </p:normalViewPr>
  <p:slideViewPr>
    <p:cSldViewPr snapToGrid="0">
      <p:cViewPr varScale="1">
        <p:scale>
          <a:sx n="62" d="100"/>
          <a:sy n="62" d="100"/>
        </p:scale>
        <p:origin x="3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841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0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26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809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45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4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8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96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84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95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9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88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bstraktní kouřové pozadí">
            <a:extLst>
              <a:ext uri="{FF2B5EF4-FFF2-40B4-BE49-F238E27FC236}">
                <a16:creationId xmlns:a16="http://schemas.microsoft.com/office/drawing/2014/main" id="{BEF5787E-F279-7795-30D1-AC71759A94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1795AC6-13E1-6C57-8791-D43C26B69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cs-CZ" sz="4400" dirty="0" err="1"/>
              <a:t>Tetris</a:t>
            </a:r>
            <a:r>
              <a:rPr lang="cs-CZ" sz="4400" dirty="0"/>
              <a:t> hra – zabezpečení 2026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42B3AA1-2D2E-E66D-F837-BF3BADEFF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1975" y="5739969"/>
            <a:ext cx="3355309" cy="960120"/>
          </a:xfrm>
        </p:spPr>
        <p:txBody>
          <a:bodyPr anchor="ctr">
            <a:normAutofit/>
          </a:bodyPr>
          <a:lstStyle/>
          <a:p>
            <a:pPr algn="r"/>
            <a:r>
              <a:rPr lang="cs-CZ" sz="1900" dirty="0"/>
              <a:t>Zedníčková, </a:t>
            </a:r>
            <a:r>
              <a:rPr lang="cs-CZ" sz="1900" dirty="0" err="1"/>
              <a:t>Reed</a:t>
            </a:r>
            <a:r>
              <a:rPr lang="cs-CZ" sz="1900" dirty="0"/>
              <a:t>, Doležal</a:t>
            </a:r>
          </a:p>
        </p:txBody>
      </p:sp>
    </p:spTree>
    <p:extLst>
      <p:ext uri="{BB962C8B-B14F-4D97-AF65-F5344CB8AC3E}">
        <p14:creationId xmlns:p14="http://schemas.microsoft.com/office/powerpoint/2010/main" val="3813040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07C354-8606-BB34-2048-073718D8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Kyb</a:t>
            </a:r>
            <a:r>
              <a:rPr lang="cs-CZ" dirty="0"/>
              <a:t>. Bezpečnost a hry - obecně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1459DE-FFD9-8A6A-7097-40465AAD0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4780"/>
            <a:ext cx="11155680" cy="4331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Žádná ochrana není neprolomitelná – cílem je </a:t>
            </a:r>
            <a:r>
              <a:rPr lang="cs-CZ" b="1" dirty="0"/>
              <a:t>zvýšit cenu útoku v čase a náročnosti</a:t>
            </a:r>
            <a:r>
              <a:rPr lang="cs-CZ" dirty="0"/>
              <a:t>, ne jej zcela znemožnit.</a:t>
            </a:r>
          </a:p>
          <a:p>
            <a:pPr marL="0" indent="0">
              <a:buNone/>
            </a:pPr>
            <a:br>
              <a:rPr lang="cs-CZ" dirty="0"/>
            </a:br>
            <a:r>
              <a:rPr lang="cs-CZ" dirty="0"/>
              <a:t>Klientská ochrana (integrita, </a:t>
            </a:r>
            <a:r>
              <a:rPr lang="cs-CZ" dirty="0" err="1"/>
              <a:t>obfuskace</a:t>
            </a:r>
            <a:r>
              <a:rPr lang="cs-CZ" dirty="0"/>
              <a:t>, anti-</a:t>
            </a:r>
            <a:r>
              <a:rPr lang="cs-CZ" dirty="0" err="1"/>
              <a:t>tamper</a:t>
            </a:r>
            <a:r>
              <a:rPr lang="cs-CZ" dirty="0"/>
              <a:t>) je vždy </a:t>
            </a:r>
            <a:r>
              <a:rPr lang="cs-CZ" b="1" dirty="0"/>
              <a:t>pod kontrolou útočníka</a:t>
            </a:r>
            <a:r>
              <a:rPr lang="cs-CZ" dirty="0"/>
              <a:t>, protože běží na jeho zařízení.</a:t>
            </a:r>
          </a:p>
          <a:p>
            <a:pPr marL="0" indent="0">
              <a:buNone/>
            </a:pPr>
            <a:br>
              <a:rPr lang="cs-CZ" dirty="0"/>
            </a:br>
            <a:r>
              <a:rPr lang="cs-CZ" dirty="0"/>
              <a:t>Serverová validace a oddělení logiky jsou nejodolnější, ale zvyšují </a:t>
            </a:r>
            <a:r>
              <a:rPr lang="cs-CZ" b="1" dirty="0"/>
              <a:t>nároky na infrastrukturu</a:t>
            </a:r>
            <a:r>
              <a:rPr lang="cs-CZ" dirty="0"/>
              <a:t> a nejsou vhodné pro všechny typy her.</a:t>
            </a:r>
          </a:p>
          <a:p>
            <a:pPr marL="0" indent="0">
              <a:buNone/>
            </a:pPr>
            <a:br>
              <a:rPr lang="cs-CZ" dirty="0"/>
            </a:br>
            <a:r>
              <a:rPr lang="cs-CZ" dirty="0"/>
              <a:t>Anti-</a:t>
            </a:r>
            <a:r>
              <a:rPr lang="cs-CZ" dirty="0" err="1"/>
              <a:t>cheat</a:t>
            </a:r>
            <a:r>
              <a:rPr lang="cs-CZ" dirty="0"/>
              <a:t> a behaviorální analýza snižují podvádění, ale mohou generovat </a:t>
            </a:r>
            <a:r>
              <a:rPr lang="cs-CZ" b="1" dirty="0" err="1"/>
              <a:t>false</a:t>
            </a:r>
            <a:r>
              <a:rPr lang="cs-CZ" b="1" dirty="0"/>
              <a:t> </a:t>
            </a:r>
            <a:r>
              <a:rPr lang="cs-CZ" b="1" dirty="0" err="1"/>
              <a:t>positives</a:t>
            </a:r>
            <a:r>
              <a:rPr lang="cs-CZ" dirty="0"/>
              <a:t> a zasahovat do soukromí hráčů.</a:t>
            </a:r>
          </a:p>
          <a:p>
            <a:pPr marL="0" indent="0">
              <a:buNone/>
            </a:pPr>
            <a:br>
              <a:rPr lang="cs-CZ" dirty="0"/>
            </a:br>
            <a:r>
              <a:rPr lang="cs-CZ" dirty="0"/>
              <a:t>Silná ochrana často zhoršuje </a:t>
            </a:r>
            <a:r>
              <a:rPr lang="cs-CZ" b="1" dirty="0"/>
              <a:t>uživatelský komfort</a:t>
            </a:r>
            <a:r>
              <a:rPr lang="cs-CZ" dirty="0"/>
              <a:t> (výkon, </a:t>
            </a:r>
            <a:r>
              <a:rPr lang="cs-CZ" dirty="0" err="1"/>
              <a:t>offline</a:t>
            </a:r>
            <a:r>
              <a:rPr lang="cs-CZ" dirty="0"/>
              <a:t> režim, kompatibilita).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40847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DAFC4-72DC-684A-1588-F0E9CBF75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15BA65-88D9-53DF-2D46-99170937D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3600" dirty="0" err="1"/>
              <a:t>Kyb</a:t>
            </a:r>
            <a:r>
              <a:rPr lang="cs-CZ" sz="3600" dirty="0"/>
              <a:t>. Bezpečnost hry – obecně 2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23F53AB-DAA1-574B-5535-3AF189489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06292"/>
            <a:ext cx="11155680" cy="44396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dirty="0"/>
              <a:t>Obrana reaguje na známé techniky, útok hledá </a:t>
            </a:r>
            <a:r>
              <a:rPr lang="cs-CZ" sz="2400" b="1" dirty="0"/>
              <a:t>jedinou slabinu</a:t>
            </a:r>
            <a:r>
              <a:rPr lang="cs-CZ" sz="2400" dirty="0"/>
              <a:t>.</a:t>
            </a:r>
          </a:p>
          <a:p>
            <a:pPr marL="0" indent="0">
              <a:buNone/>
            </a:pPr>
            <a:br>
              <a:rPr lang="cs-CZ" sz="2400" dirty="0"/>
            </a:br>
            <a:r>
              <a:rPr lang="cs-CZ" sz="2400" dirty="0"/>
              <a:t>Statické ochrany (klíče, kontroly </a:t>
            </a:r>
            <a:r>
              <a:rPr lang="cs-CZ" sz="2400" dirty="0" err="1"/>
              <a:t>hashů</a:t>
            </a:r>
            <a:r>
              <a:rPr lang="cs-CZ" sz="2400" dirty="0"/>
              <a:t>, DRM) jsou náchylné k analýze a emulaci.</a:t>
            </a:r>
            <a:br>
              <a:rPr lang="cs-CZ" sz="2400" dirty="0"/>
            </a:br>
            <a:br>
              <a:rPr lang="cs-CZ" sz="2400" dirty="0"/>
            </a:br>
            <a:r>
              <a:rPr lang="cs-CZ" sz="2400" dirty="0" err="1"/>
              <a:t>Crack</a:t>
            </a:r>
            <a:r>
              <a:rPr lang="cs-CZ" sz="2400" dirty="0"/>
              <a:t> často nevzniká „rozbitím všeho“, ale </a:t>
            </a:r>
            <a:r>
              <a:rPr lang="cs-CZ" sz="2400" b="1" dirty="0"/>
              <a:t>obejitím rozhodovacího bodu</a:t>
            </a:r>
            <a:r>
              <a:rPr lang="cs-CZ" sz="2400" dirty="0"/>
              <a:t> (podmínka, kontrola, návratová hodnota).</a:t>
            </a:r>
          </a:p>
          <a:p>
            <a:pPr marL="0" indent="0">
              <a:buNone/>
            </a:pPr>
            <a:br>
              <a:rPr lang="cs-CZ" sz="2400" dirty="0"/>
            </a:br>
            <a:r>
              <a:rPr lang="cs-CZ" sz="2400" dirty="0"/>
              <a:t>Efektivní ochrana je </a:t>
            </a:r>
            <a:r>
              <a:rPr lang="cs-CZ" sz="2400" b="1" dirty="0"/>
              <a:t>kombinace více vrstev</a:t>
            </a:r>
            <a:r>
              <a:rPr lang="cs-CZ" sz="2400" dirty="0"/>
              <a:t>, nikoli jedna technologie.</a:t>
            </a:r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3773865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C676EC-2361-A718-792C-723C5C04D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 projektu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8126B9-FE8C-8F1F-66BE-6D95F123D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Tento projekt je </a:t>
            </a:r>
            <a:r>
              <a:rPr lang="cs-CZ" b="1" dirty="0"/>
              <a:t>počítačová hra </a:t>
            </a:r>
            <a:r>
              <a:rPr lang="cs-CZ" b="1" dirty="0" err="1"/>
              <a:t>Tetris</a:t>
            </a:r>
            <a:r>
              <a:rPr lang="cs-CZ" dirty="0"/>
              <a:t>, vytvořená v jazyce </a:t>
            </a:r>
            <a:r>
              <a:rPr lang="cs-CZ" b="1" dirty="0"/>
              <a:t>Python</a:t>
            </a:r>
            <a:r>
              <a:rPr lang="cs-CZ" dirty="0"/>
              <a:t> s využitím knihovny </a:t>
            </a:r>
            <a:r>
              <a:rPr lang="cs-CZ" b="1" dirty="0" err="1"/>
              <a:t>Pygame</a:t>
            </a:r>
            <a:r>
              <a:rPr lang="cs-CZ" dirty="0"/>
              <a:t>.</a:t>
            </a:r>
            <a:br>
              <a:rPr lang="cs-CZ" dirty="0"/>
            </a:br>
            <a:r>
              <a:rPr lang="cs-CZ" dirty="0"/>
              <a:t>Hlavním cílem projektu nebylo jen naprogramovat samotnou hru, ale především </a:t>
            </a:r>
            <a:r>
              <a:rPr lang="cs-CZ" b="1" dirty="0"/>
              <a:t>navrhnout její </a:t>
            </a:r>
            <a:r>
              <a:rPr lang="cs-CZ" b="1"/>
              <a:t>zabezpečení</a:t>
            </a:r>
            <a:r>
              <a:rPr lang="cs-CZ"/>
              <a:t>.</a:t>
            </a:r>
          </a:p>
          <a:p>
            <a:endParaRPr lang="cs-CZ" dirty="0"/>
          </a:p>
          <a:p>
            <a:r>
              <a:rPr lang="cs-CZ" dirty="0"/>
              <a:t>Projekt se zaměřuje na:</a:t>
            </a:r>
          </a:p>
          <a:p>
            <a:pPr lvl="1"/>
            <a:r>
              <a:rPr lang="cs-CZ" dirty="0"/>
              <a:t>řízení přístupu uživatelů (registrace a přihlášení),</a:t>
            </a:r>
          </a:p>
          <a:p>
            <a:pPr lvl="1"/>
            <a:r>
              <a:rPr lang="cs-CZ" dirty="0"/>
              <a:t>oddělení herní logiky, webového serveru a databází,</a:t>
            </a:r>
          </a:p>
          <a:p>
            <a:pPr lvl="1"/>
            <a:r>
              <a:rPr lang="cs-CZ" dirty="0"/>
              <a:t>ochranu zdrojového kódu a distribuované aplikace,</a:t>
            </a:r>
          </a:p>
          <a:p>
            <a:pPr lvl="1"/>
            <a:r>
              <a:rPr lang="cs-CZ" dirty="0"/>
              <a:t>sběr anonymních technických dat pro analýzu chyb.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812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C39371-95B5-2B32-6EDE-6CD5C884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Cíle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A5D373-F97B-4BC2-7403-6C6B6332C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800" dirty="0"/>
              <a:t>Registrace a přihlášení uživatele - Existuje oddělená DB uživatelů a jejich správu</a:t>
            </a:r>
          </a:p>
          <a:p>
            <a:r>
              <a:rPr lang="cs-CZ" sz="2800" dirty="0"/>
              <a:t>Vytvoření kontroly integrity hry </a:t>
            </a:r>
          </a:p>
          <a:p>
            <a:r>
              <a:rPr lang="cs-CZ" sz="2800" dirty="0"/>
              <a:t>Shromažďování a odesílání technických uživatelských dat – oddělená DB</a:t>
            </a:r>
          </a:p>
          <a:p>
            <a:r>
              <a:rPr lang="cs-CZ" sz="2800" dirty="0" err="1"/>
              <a:t>Obfuskace</a:t>
            </a:r>
            <a:r>
              <a:rPr lang="cs-CZ" sz="2800" dirty="0"/>
              <a:t> kódu + Testování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65754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0370C8-BE7B-70F6-B084-8A2060FED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Rozdělení povinností v rámci projektu</a:t>
            </a:r>
          </a:p>
        </p:txBody>
      </p:sp>
      <p:pic>
        <p:nvPicPr>
          <p:cNvPr id="5" name="Obrázek 4" descr="Obsah obrázku snímek obrazovky, text, software, Multimediální software&#10;&#10;Obsah generovaný pomocí AI může být nesprávný.">
            <a:extLst>
              <a:ext uri="{FF2B5EF4-FFF2-40B4-BE49-F238E27FC236}">
                <a16:creationId xmlns:a16="http://schemas.microsoft.com/office/drawing/2014/main" id="{6DDD4614-4C5F-A7CC-63D3-5295D501D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356" y="2441448"/>
            <a:ext cx="9543288" cy="327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20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1F31DE-96F8-53C5-7D5E-93B43990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Správa uživatelů – D. Zedníčková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29B264C-3813-1070-B007-35E3867A1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cs-CZ" sz="2800" dirty="0"/>
              <a:t>Hra nejde spustit bez přihlášení / </a:t>
            </a:r>
            <a:r>
              <a:rPr lang="cs-CZ" sz="2800" dirty="0" err="1"/>
              <a:t>registrace.Autentizace</a:t>
            </a:r>
            <a:r>
              <a:rPr lang="cs-CZ" sz="2800" dirty="0"/>
              <a:t> je oddělená od herní logiky:</a:t>
            </a:r>
          </a:p>
          <a:p>
            <a:pPr marL="0" indent="0">
              <a:buNone/>
            </a:pPr>
            <a:endParaRPr lang="cs-CZ" sz="2800" dirty="0"/>
          </a:p>
          <a:p>
            <a:pPr marL="0" indent="0" algn="ctr">
              <a:buNone/>
            </a:pPr>
            <a:r>
              <a:rPr lang="cs-CZ" sz="2800" b="1" dirty="0" err="1"/>
              <a:t>Tetris</a:t>
            </a:r>
            <a:r>
              <a:rPr lang="cs-CZ" sz="2800" b="1" dirty="0"/>
              <a:t> (</a:t>
            </a:r>
            <a:r>
              <a:rPr lang="cs-CZ" sz="2800" b="1" dirty="0" err="1"/>
              <a:t>Pygame</a:t>
            </a:r>
            <a:r>
              <a:rPr lang="cs-CZ" sz="2800" b="1" dirty="0"/>
              <a:t>) ↔ Webový server (</a:t>
            </a:r>
            <a:r>
              <a:rPr lang="cs-CZ" sz="2800" b="1" dirty="0" err="1"/>
              <a:t>Flask</a:t>
            </a:r>
            <a:r>
              <a:rPr lang="cs-CZ" sz="2800" b="1" dirty="0"/>
              <a:t>) ↔ DB uživatelů (</a:t>
            </a:r>
            <a:r>
              <a:rPr lang="cs-CZ" sz="2800" b="1" dirty="0" err="1"/>
              <a:t>SQLite</a:t>
            </a:r>
            <a:r>
              <a:rPr lang="cs-CZ" sz="2800" b="1" dirty="0"/>
              <a:t>)</a:t>
            </a:r>
          </a:p>
          <a:p>
            <a:r>
              <a:rPr lang="cs-CZ" sz="2800" dirty="0"/>
              <a:t>Uživatelská identita (ID) slouží jako vazba na data (např. </a:t>
            </a:r>
            <a:r>
              <a:rPr lang="cs-CZ" sz="2800" dirty="0" err="1"/>
              <a:t>highscore</a:t>
            </a:r>
            <a:r>
              <a:rPr lang="cs-CZ" sz="2800" dirty="0"/>
              <a:t>), ale hra nepracuje s hesly ani databází přímo.</a:t>
            </a:r>
          </a:p>
        </p:txBody>
      </p:sp>
    </p:spTree>
    <p:extLst>
      <p:ext uri="{BB962C8B-B14F-4D97-AF65-F5344CB8AC3E}">
        <p14:creationId xmlns:p14="http://schemas.microsoft.com/office/powerpoint/2010/main" val="3911011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AE8EEF-A8E3-7715-AFB6-95DC0A8C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Architektura (oddělení částí)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2CC5E6-6241-7CB7-60C1-9B319AB7D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Herní klient (</a:t>
            </a:r>
            <a:r>
              <a:rPr lang="cs-CZ" dirty="0" err="1"/>
              <a:t>Pygame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vykresluje login </a:t>
            </a:r>
            <a:r>
              <a:rPr lang="cs-CZ" dirty="0" err="1"/>
              <a:t>gate</a:t>
            </a:r>
            <a:r>
              <a:rPr lang="cs-CZ" dirty="0"/>
              <a:t> obrazovku</a:t>
            </a:r>
          </a:p>
          <a:p>
            <a:pPr lvl="1"/>
            <a:r>
              <a:rPr lang="cs-CZ" dirty="0"/>
              <a:t>čeká na signál “uživatel je </a:t>
            </a:r>
            <a:r>
              <a:rPr lang="cs-CZ" dirty="0" err="1"/>
              <a:t>přihláše</a:t>
            </a:r>
            <a:endParaRPr lang="cs-CZ" dirty="0"/>
          </a:p>
          <a:p>
            <a:r>
              <a:rPr lang="cs-CZ" dirty="0"/>
              <a:t>”Web server (</a:t>
            </a:r>
            <a:r>
              <a:rPr lang="cs-CZ" dirty="0" err="1"/>
              <a:t>Flask</a:t>
            </a:r>
            <a:r>
              <a:rPr lang="cs-CZ" dirty="0"/>
              <a:t>) – lokální</a:t>
            </a:r>
          </a:p>
          <a:p>
            <a:pPr lvl="1"/>
            <a:r>
              <a:rPr lang="cs-CZ" dirty="0"/>
              <a:t>poskytuje stránky /setup, /login, /play</a:t>
            </a:r>
          </a:p>
          <a:p>
            <a:pPr lvl="1"/>
            <a:r>
              <a:rPr lang="cs-CZ" dirty="0"/>
              <a:t>řeší validaci, </a:t>
            </a:r>
            <a:r>
              <a:rPr lang="cs-CZ" dirty="0" err="1"/>
              <a:t>hashování</a:t>
            </a:r>
            <a:r>
              <a:rPr lang="cs-CZ" dirty="0"/>
              <a:t> hesel, práci s DB</a:t>
            </a:r>
          </a:p>
          <a:p>
            <a:r>
              <a:rPr lang="cs-CZ" dirty="0"/>
              <a:t>Databáze uživatelů (</a:t>
            </a:r>
            <a:r>
              <a:rPr lang="cs-CZ" dirty="0" err="1"/>
              <a:t>SQLite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ukládá účty a bezpečnostní údaje</a:t>
            </a:r>
          </a:p>
          <a:p>
            <a:r>
              <a:rPr lang="cs-CZ" dirty="0"/>
              <a:t>Telemetrie </a:t>
            </a:r>
          </a:p>
          <a:p>
            <a:pPr lvl="1"/>
            <a:r>
              <a:rPr lang="cs-CZ" dirty="0"/>
              <a:t>samostatná DB (</a:t>
            </a:r>
            <a:r>
              <a:rPr lang="cs-CZ" dirty="0" err="1"/>
              <a:t>telemetry.db</a:t>
            </a:r>
            <a:r>
              <a:rPr lang="cs-CZ" dirty="0"/>
              <a:t>) + samostatný </a:t>
            </a:r>
            <a:r>
              <a:rPr lang="cs-CZ" dirty="0" err="1"/>
              <a:t>endpoint</a:t>
            </a:r>
            <a:endParaRPr lang="cs-CZ" dirty="0"/>
          </a:p>
          <a:p>
            <a:pPr lvl="1"/>
            <a:r>
              <a:rPr lang="cs-CZ" dirty="0"/>
              <a:t>respektuje souhlas uživatele</a:t>
            </a:r>
          </a:p>
        </p:txBody>
      </p:sp>
    </p:spTree>
    <p:extLst>
      <p:ext uri="{BB962C8B-B14F-4D97-AF65-F5344CB8AC3E}">
        <p14:creationId xmlns:p14="http://schemas.microsoft.com/office/powerpoint/2010/main" val="3171767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2983B4-5AAC-ED9F-2459-B882F454A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Login </a:t>
            </a:r>
            <a:r>
              <a:rPr lang="cs-CZ" dirty="0" err="1"/>
              <a:t>gate</a:t>
            </a:r>
            <a:r>
              <a:rPr lang="cs-CZ" dirty="0"/>
              <a:t>: hra bez přihlášení neběží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841A40-8715-3941-EAB4-9E8D06B2D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Po startu se spustí lokální login server a otevře prohlížeč.</a:t>
            </a:r>
          </a:p>
          <a:p>
            <a:r>
              <a:rPr lang="cs-CZ" sz="2800" dirty="0" err="1"/>
              <a:t>Pygame</a:t>
            </a:r>
            <a:r>
              <a:rPr lang="cs-CZ" sz="2800" dirty="0"/>
              <a:t> zobrazuje “Čekám na přihlášení” a nepustí uživatele dál.</a:t>
            </a:r>
          </a:p>
          <a:p>
            <a:r>
              <a:rPr lang="cs-CZ" sz="2800" dirty="0"/>
              <a:t>Hra pokračuje až ve chvíli, kdy web server nastaví interní signalizaci:</a:t>
            </a:r>
          </a:p>
          <a:p>
            <a:pPr lvl="1"/>
            <a:r>
              <a:rPr lang="cs-CZ" sz="2800" dirty="0" err="1"/>
              <a:t>AUTH_EVENT.set</a:t>
            </a:r>
            <a:r>
              <a:rPr lang="cs-CZ" sz="2800" dirty="0"/>
              <a:t>() po kliknutí na „Chci hrát“ (POST /play)</a:t>
            </a:r>
          </a:p>
          <a:p>
            <a:r>
              <a:rPr lang="cs-CZ" sz="2800" dirty="0"/>
              <a:t>Bez tohoto kroku se </a:t>
            </a:r>
            <a:r>
              <a:rPr lang="cs-CZ" sz="2800" dirty="0" err="1"/>
              <a:t>main</a:t>
            </a:r>
            <a:r>
              <a:rPr lang="cs-CZ" sz="2800" dirty="0"/>
              <a:t> menu ani hra vůbec nespustí.</a:t>
            </a:r>
          </a:p>
        </p:txBody>
      </p:sp>
    </p:spTree>
    <p:extLst>
      <p:ext uri="{BB962C8B-B14F-4D97-AF65-F5344CB8AC3E}">
        <p14:creationId xmlns:p14="http://schemas.microsoft.com/office/powerpoint/2010/main" val="1522954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0C38B5-3E8B-FAF7-6BC4-F0FF6CBF9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Webový server: </a:t>
            </a:r>
            <a:r>
              <a:rPr lang="cs-CZ" dirty="0" err="1"/>
              <a:t>endpoints</a:t>
            </a:r>
            <a:r>
              <a:rPr lang="cs-CZ" dirty="0"/>
              <a:t> a tok přihlášení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C140E51-C4FF-6BBB-BAC0-C68D60F34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cs-CZ" sz="2800" dirty="0"/>
              <a:t>/setup</a:t>
            </a:r>
          </a:p>
          <a:p>
            <a:pPr lvl="1"/>
            <a:r>
              <a:rPr lang="cs-CZ" sz="2800" dirty="0"/>
              <a:t>registrace prvního uživatele (pokud DB je prázdná)</a:t>
            </a:r>
          </a:p>
          <a:p>
            <a:r>
              <a:rPr lang="cs-CZ" sz="2800" dirty="0"/>
              <a:t>/login</a:t>
            </a:r>
          </a:p>
          <a:p>
            <a:pPr lvl="1"/>
            <a:r>
              <a:rPr lang="cs-CZ" sz="2800" dirty="0"/>
              <a:t>přihlášení uživatele podle údajů v DB</a:t>
            </a:r>
          </a:p>
          <a:p>
            <a:r>
              <a:rPr lang="cs-CZ" sz="2800" dirty="0"/>
              <a:t>/play</a:t>
            </a:r>
          </a:p>
          <a:p>
            <a:pPr lvl="1"/>
            <a:r>
              <a:rPr lang="cs-CZ" sz="2800" dirty="0"/>
              <a:t>potvrdí dokončení přihlášení a vrátí uživatele do hry</a:t>
            </a:r>
          </a:p>
          <a:p>
            <a:pPr lvl="1"/>
            <a:r>
              <a:rPr lang="cs-CZ" sz="2800" dirty="0"/>
              <a:t>nastaví signalizaci pro klienta (AUTH_EVENT)</a:t>
            </a:r>
          </a:p>
        </p:txBody>
      </p:sp>
    </p:spTree>
    <p:extLst>
      <p:ext uri="{BB962C8B-B14F-4D97-AF65-F5344CB8AC3E}">
        <p14:creationId xmlns:p14="http://schemas.microsoft.com/office/powerpoint/2010/main" val="2380029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AE59AA-6E38-0FAB-A299-C67F295DF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Databáze účtů: typ a umístění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5B33BF-7F29-1E75-386E-91DBC27EA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Použitá DB: </a:t>
            </a:r>
            <a:r>
              <a:rPr lang="cs-CZ" b="1" dirty="0" err="1"/>
              <a:t>SQLite</a:t>
            </a:r>
            <a:r>
              <a:rPr lang="cs-CZ" dirty="0"/>
              <a:t> (lokální soubor).</a:t>
            </a:r>
          </a:p>
          <a:p>
            <a:r>
              <a:rPr lang="cs-CZ" dirty="0"/>
              <a:t>Cesta DB: </a:t>
            </a:r>
            <a:r>
              <a:rPr lang="cs-CZ" dirty="0" err="1"/>
              <a:t>tetris_users</a:t>
            </a:r>
            <a:r>
              <a:rPr lang="cs-CZ" dirty="0"/>
              <a:t> (soubor v adresáři projektu).</a:t>
            </a:r>
          </a:p>
          <a:p>
            <a:r>
              <a:rPr lang="cs-CZ" dirty="0"/>
              <a:t>Tabulka: </a:t>
            </a:r>
            <a:r>
              <a:rPr lang="cs-CZ" dirty="0" err="1"/>
              <a:t>users</a:t>
            </a:r>
            <a:endParaRPr lang="cs-CZ" dirty="0"/>
          </a:p>
          <a:p>
            <a:pPr lvl="1"/>
            <a:r>
              <a:rPr lang="cs-CZ" dirty="0"/>
              <a:t>id (PRIMARY KEY, </a:t>
            </a:r>
            <a:r>
              <a:rPr lang="cs-CZ" dirty="0" err="1"/>
              <a:t>autoincrement</a:t>
            </a:r>
            <a:r>
              <a:rPr lang="cs-CZ" dirty="0"/>
              <a:t>)</a:t>
            </a:r>
          </a:p>
          <a:p>
            <a:pPr lvl="1"/>
            <a:r>
              <a:rPr lang="cs-CZ" dirty="0" err="1"/>
              <a:t>username</a:t>
            </a:r>
            <a:r>
              <a:rPr lang="cs-CZ" dirty="0"/>
              <a:t> (unikátní)</a:t>
            </a:r>
          </a:p>
          <a:p>
            <a:pPr lvl="1"/>
            <a:r>
              <a:rPr lang="cs-CZ" dirty="0" err="1"/>
              <a:t>pwd_hash</a:t>
            </a:r>
            <a:r>
              <a:rPr lang="cs-CZ" dirty="0"/>
              <a:t> (PBKDF2 </a:t>
            </a:r>
            <a:r>
              <a:rPr lang="cs-CZ" dirty="0" err="1"/>
              <a:t>hash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salt (náhodná sůl)</a:t>
            </a:r>
          </a:p>
          <a:p>
            <a:pPr lvl="1"/>
            <a:r>
              <a:rPr lang="cs-CZ" dirty="0" err="1"/>
              <a:t>highscore</a:t>
            </a:r>
            <a:r>
              <a:rPr lang="cs-CZ" dirty="0"/>
              <a:t> (přidáno přes ALTER, pokud chybí)</a:t>
            </a:r>
          </a:p>
          <a:p>
            <a:r>
              <a:rPr lang="cs-CZ" dirty="0"/>
              <a:t>Důležité: herní klient </a:t>
            </a:r>
            <a:r>
              <a:rPr lang="cs-CZ" b="1" dirty="0"/>
              <a:t>nečte hesla ani </a:t>
            </a:r>
            <a:r>
              <a:rPr lang="cs-CZ" b="1" dirty="0" err="1"/>
              <a:t>hash</a:t>
            </a:r>
            <a:r>
              <a:rPr lang="cs-CZ" dirty="0"/>
              <a:t> — vše řeší server.</a:t>
            </a:r>
          </a:p>
        </p:txBody>
      </p:sp>
    </p:spTree>
    <p:extLst>
      <p:ext uri="{BB962C8B-B14F-4D97-AF65-F5344CB8AC3E}">
        <p14:creationId xmlns:p14="http://schemas.microsoft.com/office/powerpoint/2010/main" val="469801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, snímek obrazovky, software, displej&#10;&#10;Obsah generovaný pomocí AI může být nesprávný.">
            <a:extLst>
              <a:ext uri="{FF2B5EF4-FFF2-40B4-BE49-F238E27FC236}">
                <a16:creationId xmlns:a16="http://schemas.microsoft.com/office/drawing/2014/main" id="{E9D9CDB9-4E4A-451A-AFA8-4EC48F658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388" y="1025748"/>
            <a:ext cx="7935224" cy="544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010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3AEC8B-F78A-7026-4763-A9B712E58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Session / autentizační stav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D01C5D-F7F7-0F9F-F834-1FF9A7973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cs-CZ" sz="2400" dirty="0"/>
              <a:t>Po úspěšném loginu server generuje AUTH_TOKEN.</a:t>
            </a:r>
          </a:p>
          <a:p>
            <a:r>
              <a:rPr lang="cs-CZ" sz="2400" dirty="0"/>
              <a:t>Token je uložen do </a:t>
            </a:r>
            <a:r>
              <a:rPr lang="cs-CZ" sz="2400" dirty="0" err="1"/>
              <a:t>cookie</a:t>
            </a:r>
            <a:r>
              <a:rPr lang="cs-CZ" sz="2400" dirty="0"/>
              <a:t>:</a:t>
            </a:r>
          </a:p>
          <a:p>
            <a:pPr lvl="1"/>
            <a:r>
              <a:rPr lang="cs-CZ" sz="2400" dirty="0" err="1"/>
              <a:t>httponly</a:t>
            </a:r>
            <a:r>
              <a:rPr lang="cs-CZ" sz="2400" dirty="0"/>
              <a:t>=</a:t>
            </a:r>
            <a:r>
              <a:rPr lang="cs-CZ" sz="2400" dirty="0" err="1"/>
              <a:t>True</a:t>
            </a:r>
            <a:r>
              <a:rPr lang="cs-CZ" sz="2400" dirty="0"/>
              <a:t> (JS se k němu nedostane)</a:t>
            </a:r>
          </a:p>
          <a:p>
            <a:pPr lvl="1"/>
            <a:r>
              <a:rPr lang="cs-CZ" sz="2400" dirty="0" err="1"/>
              <a:t>samesite</a:t>
            </a:r>
            <a:r>
              <a:rPr lang="cs-CZ" sz="2400" dirty="0"/>
              <a:t>="</a:t>
            </a:r>
            <a:r>
              <a:rPr lang="cs-CZ" sz="2400" dirty="0" err="1"/>
              <a:t>Lax</a:t>
            </a:r>
            <a:r>
              <a:rPr lang="cs-CZ" sz="2400" dirty="0"/>
              <a:t>" (omezení CSRF v běžných </a:t>
            </a:r>
            <a:r>
              <a:rPr lang="cs-CZ" sz="2400" dirty="0" err="1"/>
              <a:t>scénáříc</a:t>
            </a:r>
            <a:r>
              <a:rPr lang="cs-CZ" sz="2400" dirty="0"/>
              <a:t>)</a:t>
            </a:r>
          </a:p>
          <a:p>
            <a:r>
              <a:rPr lang="cs-CZ" sz="2400" dirty="0"/>
              <a:t>Herní klient ale reálně “odemyká” hru signálem:</a:t>
            </a:r>
          </a:p>
          <a:p>
            <a:pPr lvl="1"/>
            <a:r>
              <a:rPr lang="cs-CZ" sz="2400" dirty="0"/>
              <a:t>AUTH_EVENT (interní synchronizace procesu)</a:t>
            </a:r>
          </a:p>
          <a:p>
            <a:r>
              <a:rPr lang="cs-CZ" sz="2400" dirty="0"/>
              <a:t>CURRENT_USER drží informace o uživateli (např. id, </a:t>
            </a:r>
            <a:r>
              <a:rPr lang="cs-CZ" sz="2400" dirty="0" err="1"/>
              <a:t>username</a:t>
            </a:r>
            <a:r>
              <a:rPr lang="cs-CZ" sz="2400" dirty="0"/>
              <a:t>) pro UI a ukládání skóre.</a:t>
            </a:r>
          </a:p>
        </p:txBody>
      </p:sp>
    </p:spTree>
    <p:extLst>
      <p:ext uri="{BB962C8B-B14F-4D97-AF65-F5344CB8AC3E}">
        <p14:creationId xmlns:p14="http://schemas.microsoft.com/office/powerpoint/2010/main" val="1598728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8F74B8-56D3-E6C9-030E-05420D15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Proč je to „zabezpečené“ (shrnutí přínosů)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A3A778-79AE-74CE-0E48-74E033DE2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Hra je chráněná přístupem: bez registrace/přihlášení se nedá hrát.</a:t>
            </a:r>
          </a:p>
          <a:p>
            <a:r>
              <a:rPr lang="cs-CZ" dirty="0"/>
              <a:t>Hesla jsou bezpečně </a:t>
            </a:r>
            <a:r>
              <a:rPr lang="cs-CZ" dirty="0" err="1"/>
              <a:t>uložená:salted</a:t>
            </a:r>
            <a:r>
              <a:rPr lang="cs-CZ" dirty="0"/>
              <a:t> PBKDF2 (200k iterací)</a:t>
            </a:r>
            <a:r>
              <a:rPr lang="cs-CZ" dirty="0" err="1"/>
              <a:t>constant-time</a:t>
            </a:r>
            <a:r>
              <a:rPr lang="cs-CZ" dirty="0"/>
              <a:t> porovnání</a:t>
            </a:r>
          </a:p>
          <a:p>
            <a:r>
              <a:rPr lang="cs-CZ" dirty="0"/>
              <a:t>Web server je oddělený </a:t>
            </a:r>
            <a:r>
              <a:rPr lang="cs-CZ" dirty="0" err="1"/>
              <a:t>modul:herní</a:t>
            </a:r>
            <a:r>
              <a:rPr lang="cs-CZ" dirty="0"/>
              <a:t> klient nemusí znát DB strukturu ani hesla</a:t>
            </a:r>
          </a:p>
          <a:p>
            <a:r>
              <a:rPr lang="cs-CZ" dirty="0"/>
              <a:t>Data jsou oddělená podle účelu:</a:t>
            </a:r>
          </a:p>
          <a:p>
            <a:endParaRPr lang="cs-CZ" dirty="0"/>
          </a:p>
          <a:p>
            <a:pPr algn="ctr"/>
            <a:r>
              <a:rPr lang="cs-CZ" sz="3600" dirty="0"/>
              <a:t>login DB ≠ telemetrie DB ≠ herní logika</a:t>
            </a:r>
          </a:p>
        </p:txBody>
      </p:sp>
    </p:spTree>
    <p:extLst>
      <p:ext uri="{BB962C8B-B14F-4D97-AF65-F5344CB8AC3E}">
        <p14:creationId xmlns:p14="http://schemas.microsoft.com/office/powerpoint/2010/main" val="2809746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A77A0B-763F-A9FB-E245-67AD9556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TELEMETRIE</a:t>
            </a:r>
            <a:r>
              <a:rPr lang="cs-CZ" dirty="0"/>
              <a:t> – S. </a:t>
            </a:r>
            <a:r>
              <a:rPr lang="cs-CZ" dirty="0" err="1"/>
              <a:t>Reed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3107EA1-1E63-A76D-1397-A73D84B99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200" dirty="0" err="1"/>
              <a:t>Jde</a:t>
            </a:r>
            <a:r>
              <a:rPr lang="en-AU" sz="3200" dirty="0"/>
              <a:t> o Flask telemetry server, </a:t>
            </a:r>
            <a:r>
              <a:rPr lang="en-AU" sz="3200" dirty="0" err="1"/>
              <a:t>který</a:t>
            </a:r>
            <a:r>
              <a:rPr lang="en-AU" sz="3200" dirty="0"/>
              <a:t> </a:t>
            </a:r>
            <a:r>
              <a:rPr lang="en-AU" sz="3200" dirty="0" err="1"/>
              <a:t>přijímá</a:t>
            </a:r>
            <a:r>
              <a:rPr lang="en-AU" sz="3200" dirty="0"/>
              <a:t> </a:t>
            </a:r>
            <a:r>
              <a:rPr lang="en-AU" sz="3200" dirty="0" err="1"/>
              <a:t>dávky</a:t>
            </a:r>
            <a:r>
              <a:rPr lang="en-AU" sz="3200" dirty="0"/>
              <a:t> </a:t>
            </a:r>
            <a:r>
              <a:rPr lang="en-AU" sz="3200" dirty="0" err="1"/>
              <a:t>událostí</a:t>
            </a:r>
            <a:r>
              <a:rPr lang="en-AU" sz="3200" dirty="0"/>
              <a:t> z </a:t>
            </a:r>
            <a:r>
              <a:rPr lang="en-AU" sz="3200" dirty="0" err="1"/>
              <a:t>klienta</a:t>
            </a:r>
            <a:r>
              <a:rPr lang="en-AU" sz="3200" dirty="0"/>
              <a:t> (</a:t>
            </a:r>
            <a:r>
              <a:rPr lang="en-AU" sz="3200" dirty="0" err="1"/>
              <a:t>hry</a:t>
            </a:r>
            <a:r>
              <a:rPr lang="en-AU" sz="3200" dirty="0"/>
              <a:t>) </a:t>
            </a:r>
            <a:r>
              <a:rPr lang="en-AU" sz="3200" dirty="0" err="1"/>
              <a:t>přes</a:t>
            </a:r>
            <a:r>
              <a:rPr lang="en-AU" sz="3200" dirty="0"/>
              <a:t> HTTP API.</a:t>
            </a:r>
          </a:p>
          <a:p>
            <a:pPr algn="ctr"/>
            <a:endParaRPr lang="en-AU" sz="3200" dirty="0"/>
          </a:p>
          <a:p>
            <a:pPr algn="ctr"/>
            <a:r>
              <a:rPr lang="en-AU" sz="3200" dirty="0"/>
              <a:t> Server </a:t>
            </a:r>
            <a:r>
              <a:rPr lang="en-AU" sz="3200" dirty="0" err="1"/>
              <a:t>běží</a:t>
            </a:r>
            <a:r>
              <a:rPr lang="en-AU" sz="3200" dirty="0"/>
              <a:t> </a:t>
            </a:r>
            <a:r>
              <a:rPr lang="en-AU" sz="3200" dirty="0" err="1"/>
              <a:t>na</a:t>
            </a:r>
            <a:r>
              <a:rPr lang="en-AU" sz="3200" dirty="0"/>
              <a:t> </a:t>
            </a:r>
            <a:r>
              <a:rPr lang="en-AU" sz="3200" dirty="0" err="1"/>
              <a:t>hostu</a:t>
            </a:r>
            <a:r>
              <a:rPr lang="en-AU" sz="3200" dirty="0"/>
              <a:t>/</a:t>
            </a:r>
            <a:r>
              <a:rPr lang="en-AU" sz="3200" dirty="0" err="1"/>
              <a:t>portu</a:t>
            </a:r>
            <a:r>
              <a:rPr lang="en-AU" sz="3200" dirty="0"/>
              <a:t> z </a:t>
            </a:r>
            <a:r>
              <a:rPr lang="en-AU" sz="3200" dirty="0" err="1"/>
              <a:t>proměnných</a:t>
            </a:r>
            <a:r>
              <a:rPr lang="en-AU" sz="3200" dirty="0"/>
              <a:t> </a:t>
            </a:r>
            <a:r>
              <a:rPr lang="en-AU" sz="3200" dirty="0" err="1"/>
              <a:t>prostředí</a:t>
            </a:r>
            <a:r>
              <a:rPr lang="en-AU" sz="3200" dirty="0"/>
              <a:t> (TELEMETRY_SERVER_HOST, TELEMETRY_SERVER_PORT) a </a:t>
            </a:r>
            <a:r>
              <a:rPr lang="en-AU" sz="3200" dirty="0" err="1"/>
              <a:t>ukládá</a:t>
            </a:r>
            <a:r>
              <a:rPr lang="en-AU" sz="3200" dirty="0"/>
              <a:t> data do MySQL </a:t>
            </a:r>
            <a:r>
              <a:rPr lang="en-AU" sz="3200" dirty="0" err="1"/>
              <a:t>databáze</a:t>
            </a:r>
            <a:r>
              <a:rPr lang="en-AU" sz="3200" dirty="0"/>
              <a:t> (</a:t>
            </a:r>
            <a:r>
              <a:rPr lang="en-AU" sz="3200" dirty="0" err="1"/>
              <a:t>název</a:t>
            </a:r>
            <a:r>
              <a:rPr lang="en-AU" sz="3200" dirty="0"/>
              <a:t> DB </a:t>
            </a:r>
            <a:r>
              <a:rPr lang="en-AU" sz="3200" dirty="0" err="1"/>
              <a:t>tetris_telemetry</a:t>
            </a:r>
            <a:r>
              <a:rPr lang="en-AU" sz="3200" dirty="0"/>
              <a:t>).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660068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FF7DE8-8FD2-E246-3275-914D20593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Integrita S. </a:t>
            </a:r>
            <a:r>
              <a:rPr lang="cs-CZ" dirty="0" err="1"/>
              <a:t>Reed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517C7B2-CF6E-E448-4D5A-BEFC30FF3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59797"/>
            <a:ext cx="11155680" cy="4486139"/>
          </a:xfrm>
        </p:spPr>
        <p:txBody>
          <a:bodyPr>
            <a:normAutofit fontScale="92500" lnSpcReduction="10000"/>
          </a:bodyPr>
          <a:lstStyle/>
          <a:p>
            <a:r>
              <a:rPr lang="cs-CZ" b="1" dirty="0"/>
              <a:t>Co se kontroluje:</a:t>
            </a:r>
            <a:endParaRPr lang="cs-CZ" dirty="0"/>
          </a:p>
          <a:p>
            <a:pPr lvl="1"/>
            <a:r>
              <a:rPr lang="cs-CZ" sz="1800" dirty="0"/>
              <a:t>klíčové soubory aplikace (např. main.py, Tetris.py)</a:t>
            </a:r>
          </a:p>
          <a:p>
            <a:pPr lvl="1"/>
            <a:r>
              <a:rPr lang="cs-CZ" sz="1800" dirty="0"/>
              <a:t>každý soubor má uložený </a:t>
            </a:r>
            <a:r>
              <a:rPr lang="cs-CZ" sz="1800" b="1" dirty="0" err="1"/>
              <a:t>hash</a:t>
            </a:r>
            <a:r>
              <a:rPr lang="cs-CZ" sz="1800" b="1" dirty="0"/>
              <a:t> v </a:t>
            </a:r>
            <a:r>
              <a:rPr lang="cs-CZ" sz="1800" b="1" dirty="0" err="1"/>
              <a:t>manifest.json</a:t>
            </a:r>
            <a:endParaRPr lang="cs-CZ" sz="1800" dirty="0"/>
          </a:p>
          <a:p>
            <a:r>
              <a:rPr lang="cs-CZ" b="1" dirty="0"/>
              <a:t>Jak to funguje:</a:t>
            </a:r>
            <a:endParaRPr lang="cs-CZ" dirty="0"/>
          </a:p>
          <a:p>
            <a:pPr lvl="1"/>
            <a:r>
              <a:rPr lang="cs-CZ" sz="1800" dirty="0"/>
              <a:t>při spuštění se znovu spočítá </a:t>
            </a:r>
            <a:r>
              <a:rPr lang="cs-CZ" sz="1800" b="1" dirty="0"/>
              <a:t>SHA-256 </a:t>
            </a:r>
            <a:r>
              <a:rPr lang="cs-CZ" sz="1800" b="1" dirty="0" err="1"/>
              <a:t>hash</a:t>
            </a:r>
            <a:endParaRPr lang="cs-CZ" sz="1800" dirty="0"/>
          </a:p>
          <a:p>
            <a:pPr lvl="1"/>
            <a:r>
              <a:rPr lang="cs-CZ" sz="1800" dirty="0" err="1"/>
              <a:t>hash</a:t>
            </a:r>
            <a:r>
              <a:rPr lang="cs-CZ" sz="1800" dirty="0"/>
              <a:t> je kombinovaný s </a:t>
            </a:r>
            <a:r>
              <a:rPr lang="cs-CZ" sz="1800" b="1" dirty="0"/>
              <a:t>tajným klíčem</a:t>
            </a:r>
            <a:endParaRPr lang="cs-CZ" sz="1800" dirty="0"/>
          </a:p>
          <a:p>
            <a:pPr lvl="1"/>
            <a:r>
              <a:rPr lang="cs-CZ" sz="1800" dirty="0"/>
              <a:t>porovná se s hodnotou v manifestu</a:t>
            </a:r>
          </a:p>
          <a:p>
            <a:r>
              <a:rPr lang="cs-CZ" b="1" dirty="0"/>
              <a:t>Výjimky:</a:t>
            </a:r>
            <a:endParaRPr lang="cs-CZ" dirty="0"/>
          </a:p>
          <a:p>
            <a:pPr lvl="1"/>
            <a:r>
              <a:rPr lang="cs-CZ" sz="1800" dirty="0"/>
              <a:t>konfigurační položky (verze, telemetry </a:t>
            </a:r>
            <a:r>
              <a:rPr lang="cs-CZ" sz="1800" dirty="0" err="1"/>
              <a:t>endpoint</a:t>
            </a:r>
            <a:r>
              <a:rPr lang="cs-CZ" sz="1800" dirty="0"/>
              <a:t>, API klíč)</a:t>
            </a:r>
          </a:p>
          <a:p>
            <a:pPr lvl="1"/>
            <a:r>
              <a:rPr lang="cs-CZ" sz="1800" dirty="0"/>
              <a:t>ty lze měnit bez porušení integrity</a:t>
            </a:r>
          </a:p>
          <a:p>
            <a:r>
              <a:rPr lang="cs-CZ" b="1" dirty="0"/>
              <a:t>Reakce na problém:</a:t>
            </a:r>
            <a:endParaRPr lang="cs-CZ" dirty="0"/>
          </a:p>
          <a:p>
            <a:pPr lvl="1"/>
            <a:r>
              <a:rPr lang="cs-CZ" sz="1800" dirty="0"/>
              <a:t>pokud </a:t>
            </a:r>
            <a:r>
              <a:rPr lang="cs-CZ" sz="1800" dirty="0" err="1"/>
              <a:t>hash</a:t>
            </a:r>
            <a:r>
              <a:rPr lang="cs-CZ" sz="1800" dirty="0"/>
              <a:t> nesouhlasí → </a:t>
            </a:r>
            <a:r>
              <a:rPr lang="cs-CZ" sz="1800" b="1" dirty="0"/>
              <a:t>aplikace se ukončí</a:t>
            </a:r>
            <a:endParaRPr lang="cs-CZ" sz="1800" dirty="0"/>
          </a:p>
          <a:p>
            <a:pPr lvl="1"/>
            <a:r>
              <a:rPr lang="cs-CZ" sz="1800" dirty="0"/>
              <a:t>chrání proti úpravám kódu a </a:t>
            </a:r>
            <a:r>
              <a:rPr lang="cs-CZ" sz="1800" dirty="0" err="1"/>
              <a:t>cheatování</a:t>
            </a:r>
            <a:endParaRPr lang="cs-CZ" sz="18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85206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C66FA8-7006-90A7-F5D6-F057F9DE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Konfigurace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EC231E-F74F-29AD-10F8-F928D9089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sz="2000" dirty="0" err="1"/>
              <a:t>player.json</a:t>
            </a:r>
            <a:endParaRPr lang="cs-CZ" sz="2000" dirty="0"/>
          </a:p>
          <a:p>
            <a:pPr lvl="1"/>
            <a:r>
              <a:rPr lang="cs-CZ" sz="2000" dirty="0"/>
              <a:t>ukládá souhlas hráče s telemetrií</a:t>
            </a:r>
          </a:p>
          <a:p>
            <a:r>
              <a:rPr lang="cs-CZ" sz="2000" dirty="0" err="1"/>
              <a:t>manifest.json</a:t>
            </a:r>
            <a:endParaRPr lang="cs-CZ" sz="2000" dirty="0"/>
          </a:p>
          <a:p>
            <a:pPr lvl="1"/>
            <a:r>
              <a:rPr lang="cs-CZ" sz="2000" dirty="0"/>
              <a:t>adresa serveru (</a:t>
            </a:r>
            <a:r>
              <a:rPr lang="cs-CZ" sz="2000" dirty="0" err="1"/>
              <a:t>telemetry_endpoint</a:t>
            </a:r>
            <a:r>
              <a:rPr lang="cs-CZ" sz="2000" dirty="0"/>
              <a:t>)</a:t>
            </a:r>
          </a:p>
          <a:p>
            <a:pPr lvl="1"/>
            <a:r>
              <a:rPr lang="cs-CZ" sz="2000" dirty="0"/>
              <a:t>API klíč (</a:t>
            </a:r>
            <a:r>
              <a:rPr lang="cs-CZ" sz="2000" dirty="0" err="1"/>
              <a:t>telemetry_api_key</a:t>
            </a:r>
            <a:r>
              <a:rPr lang="cs-CZ" sz="2000" dirty="0"/>
              <a:t>)</a:t>
            </a:r>
          </a:p>
          <a:p>
            <a:pPr lvl="1"/>
            <a:r>
              <a:rPr lang="cs-CZ" sz="2000" dirty="0"/>
              <a:t>verze aplikace</a:t>
            </a:r>
          </a:p>
          <a:p>
            <a:r>
              <a:rPr lang="cs-CZ" sz="2000" b="1" dirty="0"/>
              <a:t>Princip:</a:t>
            </a:r>
            <a:endParaRPr lang="cs-CZ" sz="2000" dirty="0"/>
          </a:p>
          <a:p>
            <a:r>
              <a:rPr lang="cs-CZ" sz="2000" dirty="0"/>
              <a:t>Bez souhlasu → telemetrie je vypnutá</a:t>
            </a:r>
            <a:endParaRPr lang="en-AU" sz="2000" dirty="0"/>
          </a:p>
          <a:p>
            <a:r>
              <a:rPr lang="cs-CZ" sz="2000" dirty="0"/>
              <a:t>Se souhlasem → hra začne zaznamenávat technické události</a:t>
            </a:r>
          </a:p>
          <a:p>
            <a:pPr marL="0" indent="0">
              <a:buNone/>
            </a:pPr>
            <a:endParaRPr lang="cs-CZ" sz="2000" dirty="0"/>
          </a:p>
          <a:p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1202758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F4C825-34A9-A91C-9B2D-9DCEABE51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Telemetrie: tok událostí ve hře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2456AA-FD83-F844-B8AE-450F18E94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b="1" dirty="0"/>
              <a:t>Zaznamenávané okamžiky:</a:t>
            </a:r>
            <a:endParaRPr lang="cs-CZ" dirty="0"/>
          </a:p>
          <a:p>
            <a:r>
              <a:rPr lang="cs-CZ" dirty="0"/>
              <a:t>spuštění aplikace</a:t>
            </a:r>
          </a:p>
          <a:p>
            <a:r>
              <a:rPr lang="cs-CZ" dirty="0"/>
              <a:t>začátek herní seance</a:t>
            </a:r>
          </a:p>
          <a:p>
            <a:r>
              <a:rPr lang="cs-CZ" dirty="0"/>
              <a:t>konec herní seance</a:t>
            </a:r>
          </a:p>
          <a:p>
            <a:r>
              <a:rPr lang="cs-CZ" dirty="0"/>
              <a:t>ukončení aplikace</a:t>
            </a:r>
          </a:p>
          <a:p>
            <a:r>
              <a:rPr lang="cs-CZ" dirty="0"/>
              <a:t>výjimky (chyby, pády)</a:t>
            </a:r>
          </a:p>
          <a:p>
            <a:r>
              <a:rPr lang="cs-CZ" b="1" dirty="0"/>
              <a:t>Tok:</a:t>
            </a:r>
            <a:endParaRPr lang="cs-CZ" dirty="0"/>
          </a:p>
          <a:p>
            <a:r>
              <a:rPr lang="cs-CZ" dirty="0"/>
              <a:t>hra vytvoří technickou událost</a:t>
            </a:r>
          </a:p>
          <a:p>
            <a:r>
              <a:rPr lang="cs-CZ" dirty="0"/>
              <a:t>událost se uloží lokálně</a:t>
            </a:r>
          </a:p>
          <a:p>
            <a:r>
              <a:rPr lang="cs-CZ" dirty="0"/>
              <a:t>odeslání probíhá až na pozadí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83413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6DE573-5828-FB4B-D644-23135546E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Telemetrie: lokální ukládání (</a:t>
            </a:r>
            <a:r>
              <a:rPr lang="cs-CZ" dirty="0" err="1"/>
              <a:t>offline</a:t>
            </a:r>
            <a:r>
              <a:rPr lang="cs-CZ" dirty="0"/>
              <a:t> režim)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15F065-FDC9-C6AB-947F-E82FE80ED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b="1" dirty="0"/>
              <a:t>Lokální databáze:</a:t>
            </a:r>
            <a:endParaRPr lang="cs-CZ" sz="2000" dirty="0"/>
          </a:p>
          <a:p>
            <a:pPr lvl="1"/>
            <a:r>
              <a:rPr lang="cs-CZ" sz="2000" dirty="0" err="1"/>
              <a:t>SQLite</a:t>
            </a:r>
            <a:r>
              <a:rPr lang="cs-CZ" sz="2000" dirty="0"/>
              <a:t> soubor </a:t>
            </a:r>
            <a:r>
              <a:rPr lang="cs-CZ" sz="2000" dirty="0" err="1"/>
              <a:t>telemetry.db</a:t>
            </a:r>
            <a:endParaRPr lang="cs-CZ" sz="2000" dirty="0"/>
          </a:p>
          <a:p>
            <a:r>
              <a:rPr lang="cs-CZ" sz="2000" b="1" dirty="0"/>
              <a:t>Co se tam ukládá:</a:t>
            </a:r>
            <a:endParaRPr lang="cs-CZ" sz="2000" dirty="0"/>
          </a:p>
          <a:p>
            <a:pPr lvl="1"/>
            <a:r>
              <a:rPr lang="cs-CZ" sz="2000" dirty="0"/>
              <a:t>typ události (např. start hry, konec hry)</a:t>
            </a:r>
          </a:p>
          <a:p>
            <a:pPr lvl="1"/>
            <a:r>
              <a:rPr lang="cs-CZ" sz="2000" dirty="0"/>
              <a:t>čas události</a:t>
            </a:r>
          </a:p>
          <a:p>
            <a:pPr lvl="1"/>
            <a:r>
              <a:rPr lang="cs-CZ" sz="2000" dirty="0"/>
              <a:t>technický </a:t>
            </a:r>
            <a:r>
              <a:rPr lang="cs-CZ" sz="2000" dirty="0" err="1"/>
              <a:t>payload</a:t>
            </a:r>
            <a:r>
              <a:rPr lang="cs-CZ" sz="2000" dirty="0"/>
              <a:t> (skóre, délka hry…)</a:t>
            </a:r>
          </a:p>
          <a:p>
            <a:pPr lvl="1"/>
            <a:r>
              <a:rPr lang="cs-CZ" sz="2000" dirty="0"/>
              <a:t>stav odeslání (odesláno / neodesláno)</a:t>
            </a:r>
          </a:p>
          <a:p>
            <a:pPr lvl="1"/>
            <a:r>
              <a:rPr lang="cs-CZ" sz="2000" dirty="0"/>
              <a:t>počet pokusů o odeslání</a:t>
            </a:r>
          </a:p>
        </p:txBody>
      </p:sp>
    </p:spTree>
    <p:extLst>
      <p:ext uri="{BB962C8B-B14F-4D97-AF65-F5344CB8AC3E}">
        <p14:creationId xmlns:p14="http://schemas.microsoft.com/office/powerpoint/2010/main" val="2670281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6D87C2-F6A4-5DC2-AE3E-88D6650E4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Telemetrie: odesílání dat na server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D6DA81-4D8B-F999-E493-6D323FA04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Kdy se odesílá:</a:t>
            </a:r>
            <a:endParaRPr lang="cs-CZ" dirty="0"/>
          </a:p>
          <a:p>
            <a:pPr lvl="1"/>
            <a:r>
              <a:rPr lang="cs-CZ" dirty="0"/>
              <a:t>automaticky na pozadí</a:t>
            </a:r>
          </a:p>
          <a:p>
            <a:pPr lvl="1"/>
            <a:r>
              <a:rPr lang="cs-CZ" dirty="0"/>
              <a:t>po dávkách (více událostí najednou)</a:t>
            </a:r>
          </a:p>
          <a:p>
            <a:r>
              <a:rPr lang="cs-CZ" b="1" dirty="0"/>
              <a:t>Jak:</a:t>
            </a:r>
            <a:endParaRPr lang="cs-CZ" dirty="0"/>
          </a:p>
          <a:p>
            <a:pPr lvl="1"/>
            <a:r>
              <a:rPr lang="cs-CZ" dirty="0"/>
              <a:t>HTTP POST na /telemetry</a:t>
            </a:r>
          </a:p>
          <a:p>
            <a:pPr lvl="1"/>
            <a:r>
              <a:rPr lang="cs-CZ" dirty="0"/>
              <a:t>JSON </a:t>
            </a:r>
            <a:r>
              <a:rPr lang="cs-CZ" dirty="0" err="1"/>
              <a:t>payload</a:t>
            </a:r>
            <a:endParaRPr lang="cs-CZ" dirty="0"/>
          </a:p>
          <a:p>
            <a:pPr lvl="1"/>
            <a:r>
              <a:rPr lang="cs-CZ" dirty="0"/>
              <a:t>volitelný API klíč v hlavičce</a:t>
            </a:r>
          </a:p>
          <a:p>
            <a:r>
              <a:rPr lang="cs-CZ" b="1" dirty="0"/>
              <a:t>Když se to nepovede:</a:t>
            </a:r>
            <a:endParaRPr lang="cs-CZ" dirty="0"/>
          </a:p>
          <a:p>
            <a:pPr lvl="1"/>
            <a:r>
              <a:rPr lang="cs-CZ" dirty="0"/>
              <a:t>události zůstanou v DB</a:t>
            </a:r>
          </a:p>
          <a:p>
            <a:pPr lvl="1"/>
            <a:r>
              <a:rPr lang="cs-CZ" dirty="0"/>
              <a:t>systém to zkusí znovu (retry + čekání)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52415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2F52D2-0AAC-DD72-0EA3-205963C4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Telemetrie: ochrana a anonymita dat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E5A8D73-57B5-EACE-CC94-B0B99999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sz="3200" b="1" dirty="0"/>
              <a:t>Čištění dat před uložením i odesláním:</a:t>
            </a:r>
            <a:endParaRPr lang="cs-CZ" sz="3200" dirty="0"/>
          </a:p>
          <a:p>
            <a:r>
              <a:rPr lang="cs-CZ" sz="3200" dirty="0"/>
              <a:t>automaticky se zahazují klíče:</a:t>
            </a:r>
          </a:p>
          <a:p>
            <a:pPr lvl="1"/>
            <a:r>
              <a:rPr lang="cs-CZ" sz="3200" dirty="0" err="1"/>
              <a:t>username</a:t>
            </a:r>
            <a:endParaRPr lang="cs-CZ" sz="3200" dirty="0"/>
          </a:p>
          <a:p>
            <a:pPr lvl="1"/>
            <a:r>
              <a:rPr lang="cs-CZ" sz="3200" dirty="0" err="1"/>
              <a:t>password</a:t>
            </a:r>
            <a:endParaRPr lang="cs-CZ" sz="3200" dirty="0"/>
          </a:p>
          <a:p>
            <a:pPr lvl="1"/>
            <a:r>
              <a:rPr lang="cs-CZ" sz="3200" dirty="0"/>
              <a:t>email</a:t>
            </a:r>
          </a:p>
          <a:p>
            <a:pPr lvl="1"/>
            <a:r>
              <a:rPr lang="cs-CZ" sz="3200" dirty="0"/>
              <a:t>token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54631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D39B95-231A-28FD-66B8-4C169C59F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Telemetrie server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0FF3B81-E082-97F5-F053-F39BE1AA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hra posílá technické události na </a:t>
            </a:r>
            <a:r>
              <a:rPr lang="cs-CZ" sz="2400" dirty="0" err="1"/>
              <a:t>Flask</a:t>
            </a:r>
            <a:r>
              <a:rPr lang="cs-CZ" sz="2400" dirty="0"/>
              <a:t> telemetry server</a:t>
            </a:r>
            <a:endParaRPr lang="en-AU" sz="2400" dirty="0"/>
          </a:p>
          <a:p>
            <a:r>
              <a:rPr lang="cs-CZ" sz="2400" dirty="0"/>
              <a:t>server ověří API klíč a zkontroluje data</a:t>
            </a:r>
            <a:endParaRPr lang="en-AU" sz="2400" dirty="0"/>
          </a:p>
          <a:p>
            <a:r>
              <a:rPr lang="cs-CZ" sz="2400" dirty="0"/>
              <a:t>data ukládá do </a:t>
            </a:r>
            <a:r>
              <a:rPr lang="cs-CZ" sz="2400" dirty="0" err="1"/>
              <a:t>MySQL</a:t>
            </a:r>
            <a:r>
              <a:rPr lang="cs-CZ" sz="2400" dirty="0"/>
              <a:t>:</a:t>
            </a:r>
            <a:endParaRPr lang="en-AU" sz="2400" dirty="0"/>
          </a:p>
          <a:p>
            <a:pPr lvl="1"/>
            <a:r>
              <a:rPr lang="cs-CZ" sz="2400" dirty="0" err="1"/>
              <a:t>telemetry_events</a:t>
            </a:r>
            <a:r>
              <a:rPr lang="cs-CZ" sz="2400" dirty="0"/>
              <a:t> (všechny události</a:t>
            </a:r>
            <a:endParaRPr lang="en-AU" sz="2400" dirty="0"/>
          </a:p>
          <a:p>
            <a:pPr lvl="1"/>
            <a:r>
              <a:rPr lang="cs-CZ" sz="2400" dirty="0" err="1"/>
              <a:t>telemetry_game_sessions</a:t>
            </a:r>
            <a:r>
              <a:rPr lang="cs-CZ" sz="2400" dirty="0"/>
              <a:t> (ukončené hry)</a:t>
            </a:r>
            <a:endParaRPr lang="en-AU" sz="2400" dirty="0"/>
          </a:p>
          <a:p>
            <a:r>
              <a:rPr lang="cs-CZ" sz="2400" dirty="0"/>
              <a:t>při </a:t>
            </a:r>
            <a:r>
              <a:rPr lang="cs-CZ" sz="2400" dirty="0" err="1"/>
              <a:t>localhost</a:t>
            </a:r>
            <a:r>
              <a:rPr lang="cs-CZ" sz="2400" dirty="0"/>
              <a:t> si hra server sama spustí a ověří ho přes /</a:t>
            </a:r>
            <a:r>
              <a:rPr lang="cs-CZ" sz="2400" dirty="0" err="1"/>
              <a:t>health</a:t>
            </a:r>
            <a:endParaRPr lang="en-AU" sz="2400" dirty="0"/>
          </a:p>
          <a:p>
            <a:r>
              <a:rPr lang="cs-CZ" sz="2400" dirty="0"/>
              <a:t>řešení funguje </a:t>
            </a:r>
            <a:r>
              <a:rPr lang="cs-CZ" sz="2400" dirty="0" err="1"/>
              <a:t>offline</a:t>
            </a:r>
            <a:r>
              <a:rPr lang="cs-CZ" sz="2400" dirty="0"/>
              <a:t> a je vhodné pro testování i prezentaci</a:t>
            </a:r>
          </a:p>
        </p:txBody>
      </p:sp>
    </p:spTree>
    <p:extLst>
      <p:ext uri="{BB962C8B-B14F-4D97-AF65-F5344CB8AC3E}">
        <p14:creationId xmlns:p14="http://schemas.microsoft.com/office/powerpoint/2010/main" val="2733064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, snímek obrazovky, číslo, software&#10;&#10;Obsah generovaný pomocí AI může být nesprávný.">
            <a:extLst>
              <a:ext uri="{FF2B5EF4-FFF2-40B4-BE49-F238E27FC236}">
                <a16:creationId xmlns:a16="http://schemas.microsoft.com/office/drawing/2014/main" id="{9D5013E4-DC89-736C-3FE7-CED029C12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920" y="1115878"/>
            <a:ext cx="6162160" cy="53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35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C6CDA0-3854-1A2F-5CC2-CD73DF998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Testov</a:t>
            </a:r>
            <a:r>
              <a:rPr lang="cs-CZ" dirty="0" err="1"/>
              <a:t>ání</a:t>
            </a:r>
            <a:r>
              <a:rPr lang="cs-CZ" dirty="0"/>
              <a:t> – J. Doležal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E85AA26-2527-FD8E-C736-B70B95369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872" y="2532889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cs-CZ" dirty="0"/>
              <a:t>Hra byla otestována zejména funkčně.</a:t>
            </a:r>
          </a:p>
        </p:txBody>
      </p:sp>
    </p:spTree>
    <p:extLst>
      <p:ext uri="{BB962C8B-B14F-4D97-AF65-F5344CB8AC3E}">
        <p14:creationId xmlns:p14="http://schemas.microsoft.com/office/powerpoint/2010/main" val="1387682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26FFEA-2DF7-1362-A229-E7A3D225B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Obfuskace</a:t>
            </a:r>
            <a:r>
              <a:rPr lang="en-AU" dirty="0"/>
              <a:t> a build</a:t>
            </a:r>
            <a:r>
              <a:rPr lang="cs-CZ" dirty="0"/>
              <a:t> – J. Doležal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7FAA5A2-C4FC-DD3D-11B7-46C64170B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Nautika: </a:t>
            </a:r>
          </a:p>
          <a:p>
            <a:r>
              <a:rPr lang="cs-CZ" dirty="0" err="1"/>
              <a:t>Nuitka</a:t>
            </a:r>
            <a:r>
              <a:rPr lang="cs-CZ" dirty="0"/>
              <a:t> je Python kompilátor</a:t>
            </a:r>
          </a:p>
          <a:p>
            <a:r>
              <a:rPr lang="cs-CZ" dirty="0"/>
              <a:t>převádí Python kód → C/C++ → nativní EXE</a:t>
            </a:r>
          </a:p>
          <a:p>
            <a:r>
              <a:rPr lang="cs-CZ" dirty="0"/>
              <a:t>výsledkem není .</a:t>
            </a:r>
            <a:r>
              <a:rPr lang="cs-CZ" dirty="0" err="1"/>
              <a:t>py</a:t>
            </a:r>
            <a:r>
              <a:rPr lang="cs-CZ" dirty="0"/>
              <a:t>, ale </a:t>
            </a:r>
            <a:r>
              <a:rPr lang="cs-CZ" dirty="0" err="1"/>
              <a:t>binárkavýrazně</a:t>
            </a:r>
            <a:r>
              <a:rPr lang="cs-CZ" dirty="0"/>
              <a:t> ztěžuje čtení a úpravy zdrojového kódu</a:t>
            </a:r>
          </a:p>
          <a:p>
            <a:pPr marL="0" indent="0">
              <a:buNone/>
            </a:pPr>
            <a:r>
              <a:rPr lang="cs-CZ" dirty="0"/>
              <a:t>Tento postup je vhodný právě pro distribuci hry bez </a:t>
            </a:r>
            <a:r>
              <a:rPr lang="cs-CZ" dirty="0" err="1"/>
              <a:t>zdrojáků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28181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4262DB-3E1E-268B-534F-CAFCF6B09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Nautika: </a:t>
            </a:r>
            <a:r>
              <a:rPr lang="pl-PL" dirty="0"/>
              <a:t>Co přináší Nuitka v projektu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B0110F0-180D-374A-F09D-8A6F0E3D9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hra se spouští přes main.exe</a:t>
            </a:r>
          </a:p>
          <a:p>
            <a:r>
              <a:rPr lang="cs-CZ" sz="3200" dirty="0"/>
              <a:t>Python runtime + knihovny jsou přibalené</a:t>
            </a:r>
          </a:p>
          <a:p>
            <a:r>
              <a:rPr lang="cs-CZ" sz="3200" dirty="0"/>
              <a:t>aplikace je portable (bez instalace)</a:t>
            </a:r>
          </a:p>
          <a:p>
            <a:r>
              <a:rPr lang="cs-CZ" sz="3200" dirty="0"/>
              <a:t>zdrojový kód není přímo čitelný</a:t>
            </a:r>
          </a:p>
        </p:txBody>
      </p:sp>
    </p:spTree>
    <p:extLst>
      <p:ext uri="{BB962C8B-B14F-4D97-AF65-F5344CB8AC3E}">
        <p14:creationId xmlns:p14="http://schemas.microsoft.com/office/powerpoint/2010/main" val="1732896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CDF52C-7A6F-F921-34D6-9C10A7C30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Standalone</a:t>
            </a:r>
            <a:r>
              <a:rPr lang="cs-CZ" dirty="0"/>
              <a:t> build (</a:t>
            </a:r>
            <a:r>
              <a:rPr lang="cs-CZ" dirty="0" err="1"/>
              <a:t>Nuitka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E2D07A-F434-D766-AB4D-B260976A0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441448"/>
            <a:ext cx="11155680" cy="3904488"/>
          </a:xfrm>
        </p:spPr>
        <p:txBody>
          <a:bodyPr>
            <a:noAutofit/>
          </a:bodyPr>
          <a:lstStyle/>
          <a:p>
            <a:r>
              <a:rPr lang="cs-CZ" sz="2000" dirty="0"/>
              <a:t>použit režim </a:t>
            </a:r>
            <a:r>
              <a:rPr lang="cs-CZ" sz="2000" dirty="0" err="1"/>
              <a:t>standalone</a:t>
            </a:r>
            <a:endParaRPr lang="cs-CZ" sz="2000" dirty="0"/>
          </a:p>
          <a:p>
            <a:r>
              <a:rPr lang="cs-CZ" sz="2000" dirty="0"/>
              <a:t>vytvoří se složka s EXE a závislostmi</a:t>
            </a:r>
          </a:p>
          <a:p>
            <a:r>
              <a:rPr lang="cs-CZ" sz="2000" dirty="0"/>
              <a:t>součástí balíčku:</a:t>
            </a:r>
          </a:p>
          <a:p>
            <a:pPr lvl="1"/>
            <a:r>
              <a:rPr lang="cs-CZ" sz="2000" dirty="0" err="1"/>
              <a:t>Pygame</a:t>
            </a:r>
            <a:endParaRPr lang="cs-CZ" sz="2000" dirty="0"/>
          </a:p>
          <a:p>
            <a:pPr lvl="1"/>
            <a:r>
              <a:rPr lang="cs-CZ" sz="2000" dirty="0" err="1"/>
              <a:t>Flask</a:t>
            </a:r>
            <a:endParaRPr lang="cs-CZ" sz="2000" dirty="0"/>
          </a:p>
          <a:p>
            <a:pPr lvl="1"/>
            <a:r>
              <a:rPr lang="cs-CZ" sz="2000" dirty="0"/>
              <a:t>Fonty</a:t>
            </a:r>
          </a:p>
          <a:p>
            <a:pPr lvl="1"/>
            <a:r>
              <a:rPr lang="cs-CZ" sz="2000" dirty="0" err="1"/>
              <a:t>manifest.json</a:t>
            </a:r>
            <a:endParaRPr lang="cs-CZ" sz="2000" dirty="0"/>
          </a:p>
          <a:p>
            <a:pPr lvl="1"/>
            <a:r>
              <a:rPr lang="cs-CZ" sz="2000" dirty="0" err="1"/>
              <a:t>telemetry.db</a:t>
            </a:r>
            <a:endParaRPr lang="cs-CZ" sz="2000" dirty="0"/>
          </a:p>
          <a:p>
            <a:r>
              <a:rPr lang="cs-CZ" sz="2000" dirty="0"/>
              <a:t>nejstabilnější varianta pro běh hry</a:t>
            </a:r>
          </a:p>
        </p:txBody>
      </p:sp>
    </p:spTree>
    <p:extLst>
      <p:ext uri="{BB962C8B-B14F-4D97-AF65-F5344CB8AC3E}">
        <p14:creationId xmlns:p14="http://schemas.microsoft.com/office/powerpoint/2010/main" val="25554473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88CD8E-54D1-5023-4880-CFE1DB3E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PyArmor</a:t>
            </a:r>
            <a:r>
              <a:rPr lang="cs-CZ" dirty="0"/>
              <a:t>: </a:t>
            </a:r>
            <a:r>
              <a:rPr lang="cs-CZ" dirty="0" err="1"/>
              <a:t>obfuskace</a:t>
            </a:r>
            <a:r>
              <a:rPr lang="cs-CZ" dirty="0"/>
              <a:t> kódu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371EAC-C1C5-8668-59C9-EF8DC1286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 err="1"/>
              <a:t>PyArmor</a:t>
            </a:r>
            <a:r>
              <a:rPr lang="cs-CZ" sz="2400" dirty="0"/>
              <a:t> slouží k </a:t>
            </a:r>
            <a:r>
              <a:rPr lang="cs-CZ" sz="2400" dirty="0" err="1"/>
              <a:t>obfuskaci</a:t>
            </a:r>
            <a:r>
              <a:rPr lang="cs-CZ" sz="2400" dirty="0"/>
              <a:t> Python kódu</a:t>
            </a:r>
          </a:p>
          <a:p>
            <a:r>
              <a:rPr lang="cs-CZ" sz="2400" dirty="0"/>
              <a:t>zvyšuje nečitelnost zdrojových souborů</a:t>
            </a:r>
          </a:p>
          <a:p>
            <a:r>
              <a:rPr lang="cs-CZ" sz="2400" dirty="0"/>
              <a:t>kód je spouštěn přes runtime </a:t>
            </a:r>
            <a:r>
              <a:rPr lang="cs-CZ" sz="2400" dirty="0" err="1"/>
              <a:t>loader</a:t>
            </a:r>
            <a:endParaRPr lang="cs-CZ" sz="2400" dirty="0"/>
          </a:p>
          <a:p>
            <a:r>
              <a:rPr lang="cs-CZ" sz="2400" dirty="0"/>
              <a:t>ztěžuje:</a:t>
            </a:r>
          </a:p>
          <a:p>
            <a:pPr lvl="1"/>
            <a:r>
              <a:rPr lang="cs-CZ" sz="2400" dirty="0"/>
              <a:t>Analýzu</a:t>
            </a:r>
          </a:p>
          <a:p>
            <a:pPr lvl="1"/>
            <a:r>
              <a:rPr lang="cs-CZ" sz="2400" dirty="0"/>
              <a:t>reverzní </a:t>
            </a:r>
            <a:r>
              <a:rPr lang="cs-CZ" sz="2400" dirty="0" err="1"/>
              <a:t>inženýrstv</a:t>
            </a:r>
            <a:endParaRPr lang="cs-CZ" sz="2400" dirty="0"/>
          </a:p>
          <a:p>
            <a:pPr lvl="1"/>
            <a:r>
              <a:rPr lang="cs-CZ" sz="2400" dirty="0"/>
              <a:t>úpravy logiky hry</a:t>
            </a:r>
          </a:p>
        </p:txBody>
      </p:sp>
    </p:spTree>
    <p:extLst>
      <p:ext uri="{BB962C8B-B14F-4D97-AF65-F5344CB8AC3E}">
        <p14:creationId xmlns:p14="http://schemas.microsoft.com/office/powerpoint/2010/main" val="980271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B53042-0E96-8679-AF5A-4C8D76EF6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Cíl </a:t>
            </a:r>
            <a:r>
              <a:rPr lang="cs-CZ" dirty="0" err="1"/>
              <a:t>obfuskace</a:t>
            </a:r>
            <a:r>
              <a:rPr lang="cs-CZ" dirty="0"/>
              <a:t> a kompilace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4BA512-2F66-F79B-2EE2-43C92EB8B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600" dirty="0"/>
              <a:t> ochrana zdrojového kódu</a:t>
            </a:r>
          </a:p>
          <a:p>
            <a:r>
              <a:rPr lang="cs-CZ" sz="3600" dirty="0"/>
              <a:t> ztížení </a:t>
            </a:r>
            <a:r>
              <a:rPr lang="cs-CZ" sz="3600" dirty="0" err="1"/>
              <a:t>cheatování</a:t>
            </a:r>
            <a:r>
              <a:rPr lang="cs-CZ" sz="3600" dirty="0"/>
              <a:t> a úprav hry</a:t>
            </a:r>
          </a:p>
          <a:p>
            <a:r>
              <a:rPr lang="cs-CZ" sz="3600" dirty="0"/>
              <a:t> zabránění jednoduchému kopírování</a:t>
            </a:r>
          </a:p>
          <a:p>
            <a:r>
              <a:rPr lang="cs-CZ" sz="3600" dirty="0"/>
              <a:t> profesionální forma distribuce aplikace</a:t>
            </a:r>
          </a:p>
        </p:txBody>
      </p:sp>
    </p:spTree>
    <p:extLst>
      <p:ext uri="{BB962C8B-B14F-4D97-AF65-F5344CB8AC3E}">
        <p14:creationId xmlns:p14="http://schemas.microsoft.com/office/powerpoint/2010/main" val="116511263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1354</Words>
  <Application>Microsoft Office PowerPoint</Application>
  <PresentationFormat>Širokoúhlá obrazovka</PresentationFormat>
  <Paragraphs>193</Paragraphs>
  <Slides>29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29</vt:i4>
      </vt:variant>
    </vt:vector>
  </HeadingPairs>
  <TitlesOfParts>
    <vt:vector size="32" baseType="lpstr">
      <vt:lpstr>Arial</vt:lpstr>
      <vt:lpstr>Bierstadt</vt:lpstr>
      <vt:lpstr>GestaltVTI</vt:lpstr>
      <vt:lpstr>Tetris hra – zabezpečení 2026</vt:lpstr>
      <vt:lpstr>Kyb. Bezpečnost a hry - obecně</vt:lpstr>
      <vt:lpstr>Kyb. Bezpečnost hry – obecně 2</vt:lpstr>
      <vt:lpstr>O projektu</vt:lpstr>
      <vt:lpstr>Cíle</vt:lpstr>
      <vt:lpstr>Rozdělení povinností v rámci projektu</vt:lpstr>
      <vt:lpstr>Správa uživatelů – D. Zedníčková</vt:lpstr>
      <vt:lpstr>Architektura (oddělení částí)</vt:lpstr>
      <vt:lpstr>Login gate: hra bez přihlášení neběží</vt:lpstr>
      <vt:lpstr>Webový server: endpoints a tok přihlášení</vt:lpstr>
      <vt:lpstr>Databáze účtů: typ a umístění</vt:lpstr>
      <vt:lpstr>Prezentace aplikace PowerPoint</vt:lpstr>
      <vt:lpstr>Session / autentizační stav</vt:lpstr>
      <vt:lpstr>Proč je to „zabezpečené“ (shrnutí přínosů)</vt:lpstr>
      <vt:lpstr>TELEMETRIE – S. Reed</vt:lpstr>
      <vt:lpstr>Integrita S. Reed</vt:lpstr>
      <vt:lpstr>Konfigurace</vt:lpstr>
      <vt:lpstr>Telemetrie: tok událostí ve hře</vt:lpstr>
      <vt:lpstr>Telemetrie: lokální ukládání (offline režim)</vt:lpstr>
      <vt:lpstr>Telemetrie: odesílání dat na server</vt:lpstr>
      <vt:lpstr>Telemetrie: ochrana a anonymita dat </vt:lpstr>
      <vt:lpstr>Telemetrie server</vt:lpstr>
      <vt:lpstr>Prezentace aplikace PowerPoint</vt:lpstr>
      <vt:lpstr>Testování – J. Doležal</vt:lpstr>
      <vt:lpstr>Obfuskace a build – J. Doležal</vt:lpstr>
      <vt:lpstr>Nautika: Co přináší Nuitka v projektu</vt:lpstr>
      <vt:lpstr>Standalone build (Nuitka)</vt:lpstr>
      <vt:lpstr>PyArmor: obfuskace kódu</vt:lpstr>
      <vt:lpstr>Cíl obfuskace a kompilace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Zedníčková</dc:creator>
  <cp:lastModifiedBy>Daniela Zedníčková</cp:lastModifiedBy>
  <cp:revision>4</cp:revision>
  <dcterms:created xsi:type="dcterms:W3CDTF">2026-01-19T09:49:38Z</dcterms:created>
  <dcterms:modified xsi:type="dcterms:W3CDTF">2026-01-22T08:29:04Z</dcterms:modified>
</cp:coreProperties>
</file>